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645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143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PROCESAMIENTO DE LENGUAJE NATURAL · ITBA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60020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Clasificación automática de noticias</a:t>
            </a:r>
            <a:endParaRPr lang="en-US" sz="38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según patrones lingüísticos de las fake news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de NLP que separan noticias falsas de reales por su estilo lingüístico — con foco en la interpretabilidad: no qué modelo gana, sino qué rasgos del texto discriminan.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4617720"/>
            <a:ext cx="224028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61772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BoW/TF-IDF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91840" y="4617720"/>
            <a:ext cx="2336292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4617720"/>
            <a:ext cx="23362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lingüísticas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856732" y="4617720"/>
            <a:ext cx="1856232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6732" y="4617720"/>
            <a:ext cx="1856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· Word2Vec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41564" y="4617720"/>
            <a:ext cx="1280160" cy="457200"/>
          </a:xfrm>
          <a:prstGeom prst="roundRect">
            <a:avLst>
              <a:gd name="adj" fmla="val 16000"/>
            </a:avLst>
          </a:prstGeom>
          <a:solidFill>
            <a:srgbClr val="1B2A4A"/>
          </a:solidFill>
          <a:ln w="12700">
            <a:solidFill>
              <a:srgbClr val="E0A45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41564" y="461772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57150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</a:t>
            </a:r>
            <a:pPr indent="0" marL="0">
              <a:buNone/>
            </a:pPr>
            <a:r>
              <a:rPr lang="en-US" sz="14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[Nombre 1] · [Nombre 2] · [Nombre 3]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61264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Fake and Real News (Kaggle) · 44.898 artículos en inglés (2015–2018)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51560" y="3246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Objetivos y motivación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4297680"/>
            <a:ext cx="1463040" cy="6400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52628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problema resolvemos y por qué importa la interpretabilidad.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OBJETIVOS Y MOTIVACIÓN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queremos hacer y por qué?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417320"/>
            <a:ext cx="640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Problema: la desinformación se propaga más rápido que su verificación manual.</a:t>
            </a:r>
            <a:endParaRPr lang="en-US" sz="15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entrenar y comparar clasificadores supervisados que separen noticias falsas de reales por sus patrones lingüísticos.</a:t>
            </a:r>
            <a:endParaRPr lang="en-US" sz="15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Importante: los modelos detectan correlaciones de estilo en el corpus — NO verifican la veracidad factual.</a:t>
            </a:r>
            <a:endParaRPr lang="en-US" sz="15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 en interpretabilidad: qué rasgos discriminan (longitud de oración, carga emocional, densidad de entidades, URLs), no solo qué modelo puntúa mejor.</a:t>
            </a:r>
            <a:endParaRPr lang="en-US" sz="1550" dirty="0"/>
          </a:p>
          <a:p>
            <a:pPr marL="177800" indent="-177800">
              <a:spcAft>
                <a:spcPts val="1300"/>
              </a:spcAft>
              <a:buSzPct val="100000"/>
              <a:buChar char="•"/>
            </a:pPr>
            <a:r>
              <a:rPr lang="en-US" sz="15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 de apoyo a la verificación humana, consciente de los sesgos del dataset.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269480" y="1417320"/>
            <a:ext cx="4370832" cy="4754880"/>
          </a:xfrm>
          <a:prstGeom prst="rect">
            <a:avLst/>
          </a:prstGeom>
          <a:solidFill>
            <a:srgbClr val="1421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7543800" y="16459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DE INVESTIGACIÓN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43800" y="214884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8229600" y="217627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fake usan adjetivos con más carga emocional que el periodismo formal.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543800" y="347472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229600" y="350215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cuerpo completo clasifica mejor que el titular solo.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543800" y="4800600"/>
            <a:ext cx="731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E0A45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8229600" y="4828032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cae al borrar marcadores de fuente (“reuters”).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51560" y="3246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Datos y metodología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4297680"/>
            <a:ext cx="1463040" cy="6400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52628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corpus, el análisis exploratorio y el diseño experimental.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corpus: Fake and Real News (Kaggle)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4173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417320"/>
            <a:ext cx="82296" cy="13716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52704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44.898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13232" y="22402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en inglés (True + Fake)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91840" y="14173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1417320"/>
            <a:ext cx="82296" cy="13716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52704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21.417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56432" y="22402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reales · fuente: Reuters (2016-17)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035040" y="141732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035040" y="1417320"/>
            <a:ext cx="82296" cy="137160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8" name="Text 16"/>
          <p:cNvSpPr/>
          <p:nvPr/>
        </p:nvSpPr>
        <p:spPr>
          <a:xfrm>
            <a:off x="6172200" y="1527048"/>
            <a:ext cx="237744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23.481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199632" y="2240280"/>
            <a:ext cx="23317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noticias falsas (2015 - feb 2018)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548640" y="3017520"/>
            <a:ext cx="5943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Columnas: title, text, subject, date. La columna subject NUNCA se usa como feature (es un sesgo del dataset).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 balanceadas (~48% reales / 52% falsas) → facilita el entrenamiento supervisado.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70/15/15 (no aleatorio): se entrena con el pasado y se evalúa con artículos más recientes.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parsear fechas y deduplicar (title, text): 44.898 → 39.099 registros para los splits.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Foco: subconjunto POLÍTICO (real=politicsNews, fake=politics) para controlar el sesgo temático; dataset completo solo como control.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720840" y="3063240"/>
            <a:ext cx="493776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0" descr="/Users/lucasrouco/workspace/ITBA/NLP/nlp/results/figures/01_eda_class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7387" y="3154680"/>
            <a:ext cx="3884666" cy="2743200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720840" y="589788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clases (balanceada)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Sesgo temático y vocabulario por clase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484632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Users/lucasrouco/workspace/ITBA/NLP/nlp/results/figures/01_eda_subject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656197"/>
            <a:ext cx="4572000" cy="263120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45902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 → politicsNews/worldnews · Fake → temas diversos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493776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subject separa casi perfectamente las clases → sesgo, se excluye como feature.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Reales: término más frecuente “said” (99.076) y presencia constante de “reuters”.</a:t>
            </a:r>
            <a:endParaRPr lang="en-US" sz="1250" dirty="0"/>
          </a:p>
          <a:p>
            <a:pPr marL="177800" indent="-1778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Fake: “trump” (88.636), figuras políticas (clinton, obama) y “via”/“video” (origen en redes).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669280" y="1371600"/>
            <a:ext cx="5989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3" name="Image 1" descr="/Users/lucasrouco/workspace/ITBA/NLP/nlp/results/figures/01_eda_wordcloud_f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5726" y="1463040"/>
            <a:ext cx="3736428" cy="20116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34564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 — FAKE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669280" y="3977640"/>
            <a:ext cx="598932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/Users/lucasrouco/workspace/ITBA/NLP/nlp/results/figures/01_eda_wordcloud_r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5726" y="4069080"/>
            <a:ext cx="3736428" cy="20116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669280" y="606247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cloud — REAL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EXPLORATORIO · PREPROCESAMIENTO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Longitud de textos y pipeline de limpieza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7607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Users/lucasrouco/workspace/ITBA/NLP/nlp/results/figures/01_eda_text_length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851164"/>
            <a:ext cx="5486400" cy="21498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4498848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fake tienen mayor variabilidad y cola más larga (423 vs 386 palabras prom.)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4892040"/>
            <a:ext cx="57607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Users/lucasrouco/workspace/ITBA/NLP/nlp/results/figures/02_split_class_bala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0639" y="4937760"/>
            <a:ext cx="2825281" cy="1325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58368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DE PREPROCESAMIENTO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6583680" y="1783080"/>
            <a:ext cx="507492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Minúsculas; eliminación de números y caracteres especiales.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conservan ! y ? (señales de estilo) y se reemplazan URLs por [URL].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Tokenización; variantes con y sin stopwords (se mide el impacto).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lematización en baselines: se preservan formas superficiales discriminativas.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Parseo de fechas multi-formato + deduplicación exacta antes de particionar (evita leakage).</a:t>
            </a:r>
            <a:endParaRPr lang="en-US" sz="140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 el texto crudo para medir mayúsculas, exclamaciones y sentimiento (Exp 2).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lo hicimos: 5 experimentos, una métrica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120640" cy="1600200"/>
          </a:xfrm>
          <a:prstGeom prst="rect">
            <a:avLst/>
          </a:prstGeom>
          <a:solidFill>
            <a:srgbClr val="1421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31520" y="1508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PRINCIPAL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18288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F2-score</a:t>
            </a:r>
            <a:pPr indent="0" marL="0">
              <a:buNone/>
            </a:pPr>
            <a:r>
              <a:rPr lang="en-US" sz="1600" dirty="0">
                <a:solidFill>
                  <a:srgbClr val="C9D2E3"/>
                </a:solidFill>
              </a:rPr>
              <a:t>  (clase fake)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31520" y="239572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 recall: un falso negativo (fake pasada como real) es más costoso que un falso positivo.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315468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Etiquetas: fake = 1 (clase positiva), real = 0.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 elegidos SOLO en validación; test se evalúa una única vez.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→ val/test pueden tener desbalance de clases (es esperado).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0" y="1371600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89904" y="1536192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6089904" y="15361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720840" y="14447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tradicionales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720840" y="17739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BoW/TF-IDF × LR/NB/SVM + ablación de fuente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943600" y="2286000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89904" y="2450592"/>
            <a:ext cx="475488" cy="47548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6089904" y="24505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720840" y="23591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lingüísticas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20840" y="26883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rasgos interpretables (spaCy + VADER) → LR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3200400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89904" y="3364992"/>
            <a:ext cx="475488" cy="47548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25" name="Text 23"/>
          <p:cNvSpPr/>
          <p:nvPr/>
        </p:nvSpPr>
        <p:spPr>
          <a:xfrm>
            <a:off x="6089904" y="33649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720840" y="32735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 &amp; Transformers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720840" y="36027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· Word2Vec · DistilBERT (fine-tuning)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943600" y="4114800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089904" y="4279392"/>
            <a:ext cx="475488" cy="475488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30" name="Text 28"/>
          <p:cNvSpPr/>
          <p:nvPr/>
        </p:nvSpPr>
        <p:spPr>
          <a:xfrm>
            <a:off x="6089904" y="42793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720840" y="41879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Importancia de atributos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6720840" y="45171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lineales + adjetivos por clase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943600" y="5029200"/>
            <a:ext cx="571500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89904" y="5193792"/>
            <a:ext cx="475488" cy="47548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5" name="Text 33"/>
          <p:cNvSpPr/>
          <p:nvPr/>
        </p:nvSpPr>
        <p:spPr>
          <a:xfrm>
            <a:off x="6089904" y="519379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6720840" y="5102352"/>
            <a:ext cx="4846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errores</a:t>
            </a:r>
            <a:endParaRPr lang="en-US" sz="1500" dirty="0"/>
          </a:p>
        </p:txBody>
      </p:sp>
      <p:sp>
        <p:nvSpPr>
          <p:cNvPr id="37" name="Text 35"/>
          <p:cNvSpPr/>
          <p:nvPr/>
        </p:nvSpPr>
        <p:spPr>
          <a:xfrm>
            <a:off x="6720840" y="5431536"/>
            <a:ext cx="4846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Taxonomía manual de FP/FN; baseline vs transformer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· METODOLOGÍA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¿Por qué partición temporal y no aleatoria?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las noticias tienen fecha, ordenamos por fecha de publicación y cortamos en bloques: entrenamos con el pasado y evaluamos con artículos más recientes. Simula el escenario real de detección.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7488936" cy="8686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478024"/>
            <a:ext cx="74889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· 70%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" y="2807208"/>
            <a:ext cx="7488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artículos más antiguos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0456" y="2331720"/>
            <a:ext cx="1604772" cy="8686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3" name="Text 11"/>
          <p:cNvSpPr/>
          <p:nvPr/>
        </p:nvSpPr>
        <p:spPr>
          <a:xfrm>
            <a:off x="8220456" y="2478024"/>
            <a:ext cx="1604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 · 15%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0456" y="2807208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825228" y="2331720"/>
            <a:ext cx="1604772" cy="86868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6" name="Text 14"/>
          <p:cNvSpPr/>
          <p:nvPr/>
        </p:nvSpPr>
        <p:spPr>
          <a:xfrm>
            <a:off x="9825228" y="2478024"/>
            <a:ext cx="16047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· 15%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825228" y="2807208"/>
            <a:ext cx="16047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8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recientes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73152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antiguo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0" y="32461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reciente  →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3703320"/>
            <a:ext cx="10972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Validación: ajuste de hiperparámetros y detección de overfitting.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se evalúa una sola vez, con la mejor configuración.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realista que una partición aleatoria: el modelo no ve el futuro durante el entrenamiento.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Consecuencia: val/test pueden quedar desbalanceadas en clases. Es esperado — no reordenamos para no romper el criterio temporal.</a:t>
            </a:r>
            <a:endParaRPr lang="en-US" sz="1450" dirty="0"/>
          </a:p>
          <a:p>
            <a:pPr marL="177800" indent="-177800">
              <a:spcAft>
                <a:spcPts val="1100"/>
              </a:spcAft>
              <a:buSzPct val="100000"/>
              <a:buChar char="•"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evita leakage: deduplicamos por (title, text) antes de particionar.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· METODOLOGÍA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Métricas: precisión, recall y por qué F2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554480" y="132588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16916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(0)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88920" y="169164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(1)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2011680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8686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554480" y="2011680"/>
            <a:ext cx="1234440" cy="1234440"/>
          </a:xfrm>
          <a:prstGeom prst="rect">
            <a:avLst/>
          </a:prstGeom>
          <a:solidFill>
            <a:srgbClr val="DDE3EE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554480" y="20116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VN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2788920" y="2011680"/>
            <a:ext cx="1234440" cy="1234440"/>
          </a:xfrm>
          <a:prstGeom prst="rect">
            <a:avLst/>
          </a:prstGeom>
          <a:solidFill>
            <a:srgbClr val="E0A45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88920" y="201168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FP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554480" y="3246120"/>
            <a:ext cx="1234440" cy="1234440"/>
          </a:xfrm>
          <a:prstGeom prst="rect">
            <a:avLst/>
          </a:prstGeom>
          <a:solidFill>
            <a:srgbClr val="D7263D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246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FN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2788920" y="3246120"/>
            <a:ext cx="1234440" cy="1234440"/>
          </a:xfrm>
          <a:prstGeom prst="rect">
            <a:avLst/>
          </a:prstGeom>
          <a:solidFill>
            <a:srgbClr val="1B998B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88920" y="3246120"/>
            <a:ext cx="12344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40080" y="461772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Convención: fake = 1 (clase positiva), real = 0.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46320" y="1417320"/>
            <a:ext cx="6812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074920" y="155448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Precisión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7132320" y="152704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 / (VP + FP)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198424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marcado como fake, ¿cuánto era fake?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46320" y="2880360"/>
            <a:ext cx="681228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074920" y="301752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Recall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7132320" y="299008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9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VP / (VP + FN)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132320" y="344728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fake reales, ¿cuántas detectamos?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846320" y="4343400"/>
            <a:ext cx="6812280" cy="1325880"/>
          </a:xfrm>
          <a:prstGeom prst="rect">
            <a:avLst/>
          </a:prstGeom>
          <a:solidFill>
            <a:srgbClr val="14213D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74920" y="4480560"/>
            <a:ext cx="2194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F2-score</a:t>
            </a:r>
            <a:endParaRPr lang="en-US" sz="1900" dirty="0"/>
          </a:p>
        </p:txBody>
      </p:sp>
      <p:sp>
        <p:nvSpPr>
          <p:cNvPr id="32" name="Text 30"/>
          <p:cNvSpPr/>
          <p:nvPr/>
        </p:nvSpPr>
        <p:spPr>
          <a:xfrm>
            <a:off x="7132320" y="445312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(1+2²)·P·R / (2²·P + R)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132320" y="4910328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 F con β=2: el recall pesa 4× más que la precisión.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486400"/>
            <a:ext cx="11018520" cy="777240"/>
          </a:xfrm>
          <a:prstGeom prst="rect">
            <a:avLst/>
          </a:prstGeom>
          <a:solidFill>
            <a:srgbClr val="D726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868680" y="548640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F2 y no F1/accuracy?  </a:t>
            </a:r>
            <a:pPr indent="0" marL="0">
              <a:buNone/>
            </a:pPr>
            <a:r>
              <a:rPr lang="en-US" sz="1400" dirty="0">
                <a:solidFill>
                  <a:srgbClr val="FDEA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falso negativo (una fake que pasa como real) es más dañino que un falso positivo. F2 prioriza no dejar pasar fakes.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51560" y="3246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4297680"/>
            <a:ext cx="1463040" cy="6400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52628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experimentos: de los baselines clásicos a los Transformers.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· REPRESENTACIÓN DE TEXTO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¿Cómo convertimos texto en números?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modelos no leen palabras: necesitan vectores. Las dos representaciones clásicas cuentan palabras, sin entender contexto ni orden.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394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508760" y="2240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 of Words (BoW)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2953512"/>
            <a:ext cx="48280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Cuenta la frecuencia bruta de cada palabra en el documento.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e interpretable, pero da peso alto a palabras frecuentes aunque no discriminen.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disperso, sin semántica ni orden.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263640" y="1965960"/>
            <a:ext cx="5394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19672" y="222199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651967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223760" y="22402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56248" y="2953512"/>
            <a:ext cx="48280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Pondera: frecuencia en el documento × rareza en el corpus.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Penaliza términos comunes (the, is) y resalta los discriminativos.</a:t>
            </a:r>
            <a:endParaRPr lang="en-US" sz="14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representación principal sobre BoW simple.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5440680"/>
            <a:ext cx="11109960" cy="777240"/>
          </a:xfrm>
          <a:prstGeom prst="rect">
            <a:avLst/>
          </a:prstGeom>
          <a:solidFill>
            <a:srgbClr val="1421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44068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Bigramas: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 de palabras sueltas (unigramas) probamos pares — </a:t>
            </a:r>
            <a:pPr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“white house”, “breaking news”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que capturan expresiones con significado propio.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· EXPERIMENTO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Los tres clasificadores clásicos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las representaciones BoW/TF-IDF entrenamos tres modelos supervisados estándar. Todos son rápidos e interpretables; sirven como línea de base.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313432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LR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2331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Logística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3044952"/>
            <a:ext cx="3044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Modela la probabilidad de que una noticia sea fake.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Frontera de decisión lineal sobre las palabras.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 C: regula la fuerza de la regularización (sobreajuste vs. simplicidad).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interpretables por término.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297680" y="205740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53712" y="2313432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6" name="Text 14"/>
          <p:cNvSpPr/>
          <p:nvPr/>
        </p:nvSpPr>
        <p:spPr>
          <a:xfrm>
            <a:off x="4553712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NB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5257800" y="2331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Naive Bayes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90288" y="3044952"/>
            <a:ext cx="3044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probabilístico (multinomial) sobre conteos de palabras.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Asume independencia entre palabras: ingenuo pero efectivo en texto.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 alpha: suavizado de Laplace para palabras no vistas.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Muy rápido de entrenar.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46720" y="2057400"/>
            <a:ext cx="36118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02752" y="231343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8302752" y="23134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SVM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06840" y="233172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SVM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8339328" y="3044952"/>
            <a:ext cx="304495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 el hiperplano de máximo margen entre clases.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en espacios de alta dimensión (muchas palabras).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Hiperparámetro C: equilibra margen amplio vs. errores de clasificación.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 nuestro mejor baseline.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EXPERIMENTO 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Baselines tradicionales (BoW / TF-IDF)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371600"/>
            <a:ext cx="82296" cy="132588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481328"/>
            <a:ext cx="251460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0,989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667512" y="216712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fake (test) — LinearSVM + BoW(1,2)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834640"/>
            <a:ext cx="27432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02920" y="2834640"/>
            <a:ext cx="82296" cy="13258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44368"/>
            <a:ext cx="251460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0,998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" y="3630168"/>
            <a:ext cx="246888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en test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4297680"/>
            <a:ext cx="27432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8368" y="4407408"/>
            <a:ext cx="2468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Mejor: LinearSVM, BoW, cuerpo, sin stopwords, bigramas.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17 errores en test (6 FP, 11 FN).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F2≈0,99: el dataset se separa casi trivialmente.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429000" y="1371600"/>
            <a:ext cx="406908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9" name="Image 0" descr="/Users/lucasrouco/workspace/ITBA/NLP/nlp/results/figures/03_baseline_best_confusion_matri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2160600"/>
            <a:ext cx="3794760" cy="3268319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3429000" y="5943600"/>
            <a:ext cx="4069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Matriz de confusión (test)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7680960" y="1371600"/>
            <a:ext cx="3977640" cy="4800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22" name="Image 1" descr="/Users/lucasrouco/workspace/ITBA/NLP/nlp/results/figures/03_baseline_best_roc_cur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2171418"/>
            <a:ext cx="3703320" cy="3246684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7680960" y="5943600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ROC (test)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EXPERIMENTO 1 (ABLACIÓN)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¿El modelo se apoya en la fuente?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943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Users/lucasrouco/workspace/ITBA/NLP/nlp/results/figures/03_baseline_source_abl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72273"/>
            <a:ext cx="5669280" cy="364497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897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con texto original vs. marcadores de fuente normalizados a [SOURCE]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766560" y="1417320"/>
            <a:ext cx="4892040" cy="1371600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949440" y="155448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NO confirmada
</a:t>
            </a:r>
            <a:pPr indent="0" marL="0">
              <a:buNone/>
            </a:pPr>
            <a:r>
              <a:rPr lang="en-US" sz="1300" dirty="0">
                <a:solidFill>
                  <a:srgbClr val="EAFBF6"/>
                </a:solidFill>
              </a:rPr>
              <a:t>El modelo aprende patrones lingüísticos, no identidad de fuente.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6766560" y="3017520"/>
            <a:ext cx="4892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Normalizar “reuters/ap/afp” → [SOURCE] baja el F2 en validación solo ~0,020 (0,992 → 0,972).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debajo del umbral de 0,03 → no se activa la normalización de fuente.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positivo de validez: la señal aprendida es mayormente de estilo lingüístico.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Matiz: el dataset sigue teniendo fuente única (Reuters) en la clase real → ver Limitaciones.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· EXPERIMENTO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herramientas: spaCy y VADER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extraer los 8 rasgos de estilo combinamos dos librerías especializadas en lenguaje natural.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1965960"/>
            <a:ext cx="54406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04672" y="2221992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508760" y="22402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(en_core_web_sm)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41248" y="2953512"/>
            <a:ext cx="487375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tagging: etiqueta cada palabra (adjetivo, sustantivo, pronombre…).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NER: reconoce entidades nombradas (personas, lugares, organizaciones).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oraciones (para longitud y densidad).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en OntoNotes (texto periodístico) → muy preciso en noticias.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Usamos sm y no lg: POS/NER/segmentación son casi idénticos y evitamos ~560 MB de word vectors que no usamos.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5440680" cy="4069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73952" y="222199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222199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178040" y="224028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VADER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510528" y="2953512"/>
            <a:ext cx="4873752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Analizador de sentimiento basado en lexicón, diseñado para texto informal.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nativamente MAYÚSCULAS, signos de exclamación e hipérbole — justo los patrones sensacionalistas.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Devuelve un score compuesto en [-1, +1] (muy negativo → muy positivo).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Liviano e interpretable: ideal como feature de entrada al clasificador.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Alternativa a modelos de sentimiento basados en Transformers, más pesados y opacos.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· EXPERIMENTO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Las 8 features lingüísticas interpretables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2588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vez de miles de palabras, describimos cada noticia con 8 rasgos de estilo medibles (spaCy + VADER). Un LR sobre ellos dice qué discrimina, en unidades interpretables.</a:t>
            </a:r>
            <a:endParaRPr lang="en-US" sz="14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1110996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4023360"/>
                <a:gridCol w="40233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Qué mide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Señal esperada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ratio_exclamacion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Signos ! por oración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fake (sensacionalismo)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ratio_mayusculas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Palabras en MAYÚSCULAS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fake (énfasis/urgencia)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long_oracion_prom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Tokens por oración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real (estilo formal)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ratio_adj_sust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Adjetivos / sustantivos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fake (lenguaje evaluativo)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sentimiento_vader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 compuesto VADER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polarización del contenido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densidad_ner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Entidades por oración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fake (figuras políticas)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freq_url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Frecuencia del token [URL]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fake (origen en redes)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freq_pronombres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Pronombres 1.ª/2.ª persona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 fake (informalidad)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48640" y="61722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spaCy en_core_web_sm (POS, NER, segmentación) · VADER (sentimiento informal) · Clasificador: Regresión Logística sin scaler → coeficientes interpretables.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EXPERIMENTO 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Features lingüísticas interpretables (H2)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394960" cy="2788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Users/lucasrouco/workspace/ITBA/NLP/nlp/results/figures/04_h2_f2_by_text_f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3723" y="1463040"/>
            <a:ext cx="4053354" cy="26060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4114800"/>
            <a:ext cx="5394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(val) por campo de texto: título / cuerpo / combinado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02920" y="4526280"/>
            <a:ext cx="5394960" cy="1691640"/>
          </a:xfrm>
          <a:prstGeom prst="rect">
            <a:avLst/>
          </a:prstGeom>
          <a:solidFill>
            <a:srgbClr val="D726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13232" y="466344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refutada
</a:t>
            </a:r>
            <a:pPr indent="0" marL="0">
              <a:buNone/>
            </a:pPr>
            <a:r>
              <a:rPr lang="en-US" sz="1300" dirty="0">
                <a:solidFill>
                  <a:srgbClr val="FDEAEC"/>
                </a:solidFill>
              </a:rPr>
              <a:t>El TÍTULO solo clasifica mejor (F2 val 0,92) que el cuerpo (0,77) y el combinado (0,83). Las señales de estilo se concentran en titulares sensacionalistas.</a:t>
            </a:r>
            <a:endParaRPr lang="en-US" sz="2200" dirty="0"/>
          </a:p>
        </p:txBody>
      </p:sp>
      <p:sp>
        <p:nvSpPr>
          <p:cNvPr id="13" name="Shape 10"/>
          <p:cNvSpPr/>
          <p:nvPr/>
        </p:nvSpPr>
        <p:spPr>
          <a:xfrm>
            <a:off x="6172200" y="1371600"/>
            <a:ext cx="54864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4" name="Image 1" descr="/Users/lucasrouco/workspace/ITBA/NLP/nlp/results/figures/04_linguistic_coefficie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2177459"/>
            <a:ext cx="5212080" cy="314316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172200" y="594360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del LR (8 features) · + = fake, − = real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· EXPERIMENTO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¿Qué es un embedding?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109960" cy="1417320"/>
          </a:xfrm>
          <a:prstGeom prst="rect">
            <a:avLst/>
          </a:prstGeom>
          <a:solidFill>
            <a:srgbClr val="1421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371600"/>
            <a:ext cx="10652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embedding es un vector denso que representa cada palabra según su significado. </a:t>
            </a:r>
            <a:pPr indent="0" marL="0">
              <a:buNone/>
            </a:pPr>
            <a:r>
              <a:rPr lang="en-US" sz="15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Palabras con uso similar quedan cerca en el espacio vectorial </a:t>
            </a:r>
            <a:pPr indent="0" marL="0">
              <a:buNone/>
            </a:pPr>
            <a:r>
              <a:rPr lang="en-US" sz="1500" i="1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(rey − hombre + mujer ≈ reina)</a:t>
            </a:r>
            <a:pPr indent="0" marL="0">
              <a:buNone/>
            </a:pPr>
            <a:r>
              <a:rPr lang="en-US" sz="15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Cada noticia = promedio de los vectores de sus palabras → entrada a un LR / SVM.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394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273552"/>
            <a:ext cx="566928" cy="566928"/>
          </a:xfrm>
          <a:prstGeom prst="ellipse">
            <a:avLst/>
          </a:prstGeom>
          <a:solidFill>
            <a:srgbClr val="E0A458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273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291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(preentrenado)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4005072"/>
            <a:ext cx="4828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glove.6B.100d: 6.000 millones de tokens, 100 dimensiones.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sobre Wikipedia + Gigaword (texto periodístico).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Amplia cobertura de vocabulario, pero genérico.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Elegimos 6B/100d sobre 840B/300d: ganancia marginal, 3× memoria.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63640" y="3017520"/>
            <a:ext cx="539496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519672" y="327355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32735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223760" y="3291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(de dominio)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56248" y="4005072"/>
            <a:ext cx="4828032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Entrenado por nosotros sobre ~12,6k docs del train político.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la jerga específica del corpus 2015-2017.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comparar embeddings de dominio vs. genéricos.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mezcla efecto de dominio con tamaño del corpus.</a:t>
            </a:r>
            <a:endParaRPr lang="en-US" sz="13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EXPERIMENTO 3 (A)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Embeddings: GloVe vs. Word2Vec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69494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Users/lucasrouco/workspace/ITBA/NLP/nlp/results/figures/05_embedding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45333"/>
            <a:ext cx="6675120" cy="289885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8978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fake (test) por representación y clasificador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26680" y="137160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26680" y="1371600"/>
            <a:ext cx="82296" cy="123444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1481328"/>
            <a:ext cx="37033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0,945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891272" y="2112264"/>
            <a:ext cx="365760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dominio + LinearSVM (test)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26680" y="2743200"/>
            <a:ext cx="393192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726680" y="2743200"/>
            <a:ext cx="82296" cy="123444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17" name="Text 14"/>
          <p:cNvSpPr/>
          <p:nvPr/>
        </p:nvSpPr>
        <p:spPr>
          <a:xfrm>
            <a:off x="7863840" y="2852928"/>
            <a:ext cx="3703320" cy="6789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0,905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7891272" y="3483864"/>
            <a:ext cx="3657600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 genérico + LR (test)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726680" y="4114800"/>
            <a:ext cx="3931920" cy="2103120"/>
          </a:xfrm>
          <a:prstGeom prst="rect">
            <a:avLst/>
          </a:prstGeom>
          <a:solidFill>
            <a:srgbClr val="1421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927848" y="42519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Word2Vec de dominio supera al GloVe genérico.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vocabulario específico del corpus importa más que el tamaño del preentrenamiento.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ninguno alcanza el baseline BoW (0,989): la señal es mayormente léxica, no semántica.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· EXPERIMENTO 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Transformers, BERT y fine-tuning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371600"/>
            <a:ext cx="11109960" cy="1371600"/>
          </a:xfrm>
          <a:prstGeom prst="rect">
            <a:avLst/>
          </a:prstGeom>
          <a:solidFill>
            <a:srgbClr val="1421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1371600"/>
            <a:ext cx="10652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diferencia del promedio de embeddings, un Transformer usa auto-atención: </a:t>
            </a:r>
            <a:pPr indent="0" marL="0">
              <a:buNone/>
            </a:pPr>
            <a:r>
              <a:rPr lang="en-US" sz="15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 cada palabra según TODO su contexto en la oración (“banco” de plaza vs. de dinero).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48640" y="2971800"/>
            <a:ext cx="5486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04672" y="3227832"/>
            <a:ext cx="566928" cy="5669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" y="3227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50876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41248" y="3959352"/>
            <a:ext cx="491947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Partimos de BERT preentrenado en enormes corpus de texto.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Ajustamos sus pesos a nuestra tarea (fake vs real) con los datos etiquetados.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Grilla de hiperparámetros en validación con early stopping sobre F2.</a:t>
            </a:r>
            <a:endParaRPr lang="en-US" sz="13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Aprovecha conocimiento del lenguaje ya aprendido.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172200" y="2971800"/>
            <a:ext cx="5486400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28232" y="3227832"/>
            <a:ext cx="566928" cy="566928"/>
          </a:xfrm>
          <a:prstGeom prst="ellipse">
            <a:avLst/>
          </a:prstGeom>
          <a:solidFill>
            <a:srgbClr val="1B998B"/>
          </a:solidFill>
          <a:ln/>
        </p:spPr>
      </p:sp>
      <p:sp>
        <p:nvSpPr>
          <p:cNvPr id="17" name="Text 15"/>
          <p:cNvSpPr/>
          <p:nvPr/>
        </p:nvSpPr>
        <p:spPr>
          <a:xfrm>
            <a:off x="6428232" y="32278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32320" y="3246120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DistilBERT?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428232" y="406908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28232" y="4069080"/>
            <a:ext cx="82296" cy="91440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41788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~97%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592824" y="4617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rendimiento de BERT-base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006840" y="4069080"/>
            <a:ext cx="24688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9006840" y="4069080"/>
            <a:ext cx="82296" cy="91440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25" name="Text 23"/>
          <p:cNvSpPr/>
          <p:nvPr/>
        </p:nvSpPr>
        <p:spPr>
          <a:xfrm>
            <a:off x="9144000" y="4178808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9171432" y="4617720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parámetros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28232" y="512064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más rápido. El fine-tuning de BERT-base es inviable en CPU local; DistilBERT cubre el rol contextual dentro del alcance del TP (extensión opcional en Colab con GPU).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EXPERIMENTO 3 (B)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Transformers: DistilBERT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694944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Users/lucasrouco/workspace/ITBA/NLP/nlp/results/figures/05_transformer_hp_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63960"/>
            <a:ext cx="6675120" cy="34616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89788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Búsqueda de hiperparámetros en validación (learning rate, batch, warmup)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726680" y="1371600"/>
            <a:ext cx="393192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7726680" y="1371600"/>
            <a:ext cx="82296" cy="13258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1481328"/>
            <a:ext cx="3703320" cy="72923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0,999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7891272" y="2167128"/>
            <a:ext cx="3657600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fake (test) — el mejor modelo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726680" y="2834640"/>
            <a:ext cx="3931920" cy="3383280"/>
          </a:xfrm>
          <a:prstGeom prst="rect">
            <a:avLst/>
          </a:prstGeom>
          <a:solidFill>
            <a:srgbClr val="1421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7927848" y="29718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927848" y="3337560"/>
            <a:ext cx="3566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logra el F2 más alto de todos los enfoques.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ventaja sobre el baseline BoW (0,989) es marginal: el dataset ya era casi separable.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Costo: GPU y horas de entrenamiento.</a:t>
            </a:r>
            <a:endParaRPr lang="en-US" sz="12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Pierde la interpretabilidad de coeficientes de los modelos lineales.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EXPERIMENTO 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Importancia de atributos y carga emocional (H1)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644652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Users/lucasrouco/workspace/ITBA/NLP/nlp/results/figures/06_feature_importance_top_term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496286"/>
            <a:ext cx="6172200" cy="2596949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897880"/>
            <a:ext cx="6446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Términos con mayor peso lineal por clase (LinearSVM)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178040" y="1371600"/>
            <a:ext cx="448056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/Users/lucasrouco/workspace/ITBA/NLP/nlp/results/figures/06_h1_adjective_valen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4422" y="1463040"/>
            <a:ext cx="4007796" cy="2743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78040" y="4206240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emocional (VADER) de adjetivos por clase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7178040" y="4617720"/>
            <a:ext cx="4480560" cy="1600200"/>
          </a:xfrm>
          <a:prstGeom prst="rect">
            <a:avLst/>
          </a:prstGeom>
          <a:solidFill>
            <a:srgbClr val="1B998B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7360920" y="4709160"/>
            <a:ext cx="41605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sostenida en dirección
</a:t>
            </a:r>
            <a:pPr indent="0" marL="0">
              <a:buNone/>
            </a:pPr>
            <a:r>
              <a:rPr lang="en-US" sz="1200" dirty="0">
                <a:solidFill>
                  <a:srgbClr val="EAFBF6"/>
                </a:solidFill>
              </a:rPr>
              <a:t>Carga emocional de adjetivos fake (~0,30) duplica a la de los reales (~0,12). La diferencia la marcan pocos adjetivos cargados (great, illegal, criminal).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Comparación de todos los modelos (F2 test)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25880"/>
            <a:ext cx="676656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Users/lucasrouco/workspace/ITBA/NLP/nlp/results/figures/07_model_comparison_f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372774"/>
            <a:ext cx="6492240" cy="275253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943600"/>
            <a:ext cx="6766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 de la clase fake en test — todos los enfoques</a:t>
            </a:r>
            <a:endParaRPr lang="en-US" sz="10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1783080"/>
          <a:ext cx="4069080" cy="914400"/>
        </p:xfrm>
        <a:graphic>
          <a:graphicData uri="http://schemas.openxmlformats.org/drawingml/2006/table">
            <a:tbl>
              <a:tblPr/>
              <a:tblGrid>
                <a:gridCol w="2971800"/>
                <a:gridCol w="1097280"/>
              </a:tblGrid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DistilBERT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0,999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LinearSVM · BoW(1,2)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0,989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W2V dominio · SVM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0,945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GloVe · LR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Features ling. (título)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38100" marR="38100" marT="38100" marB="38100" anchor="ctr">
                    <a:lnL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EEE6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7589520" y="5029200"/>
            <a:ext cx="4069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y el baseline BoW dominan; los enfoques interpretables quedan ~5-8 pts por debajo pero explican QUÉ discrimina.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· EXPERIMENTO 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Análisis de errores: baseline vs. DistilBERT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94360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9" name="Image 0" descr="/Users/lucasrouco/workspace/ITBA/NLP/nlp/results/figures/07_error_category_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557541"/>
            <a:ext cx="5669280" cy="2474437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5897880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 de categorías de error por tipo de modelo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75120" y="1554480"/>
            <a:ext cx="4983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Baseline: 17 errores totales (6 FP, 11 FN).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Categorías más frecuentes: tema político cargado (5), sesgo de fuente (4), información parcialmente verdadera (3).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DistilBERT comete muchísimos menos errores (≈2): información parcial y sesgo de fuente.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típicos: lenguaje neutral en fake, títulos ambiguos, ironía/sarcasmo.</a:t>
            </a:r>
            <a:endParaRPr lang="en-US" sz="140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Limitación: &lt;30 errores → se analizan todos los disponibles y se documenta.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" cy="6858000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37160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0" b="1" dirty="0">
                <a:solidFill>
                  <a:srgbClr val="1B2A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5000" dirty="0"/>
          </a:p>
        </p:txBody>
      </p:sp>
      <p:sp>
        <p:nvSpPr>
          <p:cNvPr id="4" name="Text 2"/>
          <p:cNvSpPr/>
          <p:nvPr/>
        </p:nvSpPr>
        <p:spPr>
          <a:xfrm>
            <a:off x="1051560" y="3246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1097280" y="4297680"/>
            <a:ext cx="1463040" cy="64008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526280"/>
            <a:ext cx="9326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encontramos, qué limita el trabajo y cómo seguir.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encontramos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02920" y="1417320"/>
            <a:ext cx="3657600" cy="6400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417320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Sostenida en dirección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04088" y="2240280"/>
            <a:ext cx="3255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Adjetivos fake con doble carga emocional que los reales — pero impulsada por pocos términos cargados.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453128" y="14173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453128" y="1417320"/>
            <a:ext cx="3657600" cy="64008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5" name="Text 13"/>
          <p:cNvSpPr/>
          <p:nvPr/>
        </p:nvSpPr>
        <p:spPr>
          <a:xfrm>
            <a:off x="4636008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5367528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Refutada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654296" y="2240280"/>
            <a:ext cx="3255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título solo clasifica mejor que el cuerpo: el estilo sensacionalista vive en los titulares.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403336" y="1417320"/>
            <a:ext cx="3657600" cy="2377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403336" y="1417320"/>
            <a:ext cx="3657600" cy="640080"/>
          </a:xfrm>
          <a:prstGeom prst="rect">
            <a:avLst/>
          </a:prstGeom>
          <a:solidFill>
            <a:srgbClr val="1B998B"/>
          </a:solidFill>
          <a:ln/>
        </p:spPr>
      </p:sp>
      <p:sp>
        <p:nvSpPr>
          <p:cNvPr id="20" name="Text 18"/>
          <p:cNvSpPr/>
          <p:nvPr/>
        </p:nvSpPr>
        <p:spPr>
          <a:xfrm>
            <a:off x="8586216" y="146304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9317736" y="146304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confirmada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604504" y="2240280"/>
            <a:ext cx="3255264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modelo no depende de marcadores de fuente; aprende patrones lingüísticos (validez del dataset).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2920" y="4069080"/>
            <a:ext cx="11155680" cy="2148840"/>
          </a:xfrm>
          <a:prstGeom prst="rect">
            <a:avLst/>
          </a:prstGeom>
          <a:solidFill>
            <a:srgbClr val="14213D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777240" y="4206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MENSAJES CLAVE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77240" y="457200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F2≈0,99 NO es evidencia de detección de desinformación: el dataset se separa por artefactos de estilo/fuente.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valor real es lingüístico: 8 features interpretables alcanzan F2≈0,90 y explican qué rasgos discriminan.</a:t>
            </a:r>
            <a:endParaRPr lang="en-US" sz="14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Transformers (DistilBERT) ganan en métricas, pero pierden interpretabilidad frente a los modelos lineales.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4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78992"/>
            <a:ext cx="12191695" cy="54864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 Y POSIBLES MEJORAS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02920" y="384048"/>
            <a:ext cx="111556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Tan importantes como los resultados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0292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Fake News NLP · ITBA 2026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371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LIMITACIONES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1737360"/>
            <a:ext cx="5623560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 única en la clase real: todas las reales son de Reuters → “real” ≈ estilo editorial Reuters, no ley general.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F2≈0,99 como huella de artefacto: el dataset separa casi trivialmente por boilerplate/estructura.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Reutilización del test en varios experimentos → comparación cross-experimento es exploratoria.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temporal del dataset completo invierte la prevalencia de clases (confound temporal).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Word2Vec dominio vs. GloVe mezcla efecto de dominio con tamaño del corpus.</a:t>
            </a:r>
            <a:endParaRPr lang="en-US" sz="130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entrenó BERT-base ni modelos mayores (costo computacional).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46520" y="1371600"/>
            <a:ext cx="5212080" cy="4846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7D2C4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15544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1B99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POSIBLES MEJORAS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675120" y="1965960"/>
            <a:ext cx="480060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Incorporar noticias reales de múltiples fuentes (romper el sesgo Reuters).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Reportar también balanced-accuracy y AUC-PR para el desbalance.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Deduplicación difusa (MinHash/LSH) para near-duplicates de boilerplate.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transfer a otros corpus/dominios de noticias.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Probar modelos contextuales mayores con interpretabilidad (atención, SHAP).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0A45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463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GRACIAS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0A4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822960" y="3383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ANEXO — material de respaldo disponible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79476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distribución temporal por clase, puntuación/URLs por clase.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1: baselines politics vs. dataset completo (control de sensibilidad).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4: bigramas relevantes y nubes de adjetivos por clase.</a:t>
            </a:r>
            <a:endParaRPr lang="en-US" sz="1450" dirty="0"/>
          </a:p>
          <a:p>
            <a:pPr marL="177800" indent="-177800">
              <a:spcAft>
                <a:spcPts val="900"/>
              </a:spcAft>
              <a:buSzPct val="100000"/>
              <a:buChar char="•"/>
            </a:pPr>
            <a:r>
              <a:rPr lang="en-US" sz="1450" dirty="0">
                <a:solidFill>
                  <a:srgbClr val="DC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y notebooks reproducibles (01→07) + informe completo.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22960" y="62179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Fake and Real News (Kaggle) · spaCy en_core_web_sm · GloVe 6B/100d · DistilBERT-base-uncased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Clasificación de noticias por patrones lingüísticos de fake news</dc:title>
  <dc:subject>PptxGenJS Presentation</dc:subject>
  <dc:creator>Grupo NLP - ITBA</dc:creator>
  <cp:lastModifiedBy>Grupo NLP - ITBA</cp:lastModifiedBy>
  <cp:revision>1</cp:revision>
  <dcterms:created xsi:type="dcterms:W3CDTF">2026-06-21T20:41:58Z</dcterms:created>
  <dcterms:modified xsi:type="dcterms:W3CDTF">2026-06-21T20:41:58Z</dcterms:modified>
</cp:coreProperties>
</file>